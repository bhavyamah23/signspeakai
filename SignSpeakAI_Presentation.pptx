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AA5A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0C8FF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6858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8745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SignSpeak AI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2788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 •  Understand It  •  Recognize 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34290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Hand Gesture Recognition with Handwriting-to-Text Write Mode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45836" y="4160520"/>
            <a:ext cx="1097280" cy="0"/>
          </a:xfrm>
          <a:prstGeom prst="line">
            <a:avLst/>
          </a:prstGeom>
          <a:noFill/>
          <a:ln w="25400">
            <a:solidFill>
              <a:srgbClr val="AA5A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Maheshwari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Mody University of Science and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Communication Gap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gesture and handwriting recognition still fall short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B2145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217420"/>
            <a:ext cx="731520" cy="73152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2312518"/>
            <a:ext cx="541325" cy="5413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209397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Dependence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194560" y="249631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Gesture-based communication often still needs a human interpreter in the loop.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342900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B2145"/>
          </a:solidFill>
          <a:ln/>
        </p:spPr>
      </p:sp>
      <p:sp>
        <p:nvSpPr>
          <p:cNvPr id="12" name="Shape 9"/>
          <p:cNvSpPr/>
          <p:nvPr/>
        </p:nvSpPr>
        <p:spPr>
          <a:xfrm>
            <a:off x="1143000" y="3680460"/>
            <a:ext cx="731520" cy="73152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98" y="377555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94560" y="355701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194560" y="39593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recognition and handwriting recognition usually live in separate, disconnected apps.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489204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B2145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3000" y="5143500"/>
            <a:ext cx="731520" cy="73152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523859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94560" y="502005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Systems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194560" y="54223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existing solutions are rule-based and static, not adaptive to a real, moving hand.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SignSpeak AI?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1B214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 is a real-time hand gesture recognition system built with computer vision and machine learning.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21 hand landmarks live from a webcam, classifies the gesture with a trained Random Forest model, and layers a second mode on top: a handwriting canvas that turns mouse-drawn letters into text using OCR.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application, two ways to communicate.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71C3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783080"/>
            <a:ext cx="777240" cy="77724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841" y="1884121"/>
            <a:ext cx="575158" cy="5751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recognition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299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gesture classification, smoothed over recent frames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31546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71C3D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0" y="3474720"/>
            <a:ext cx="777240" cy="77724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41" y="3575761"/>
            <a:ext cx="575158" cy="5751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Mode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360920" y="37216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hand landmark detection with MediaPipe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26480" y="484632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71C3D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5166360"/>
            <a:ext cx="777240" cy="77724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841" y="5267401"/>
            <a:ext cx="575158" cy="5751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6092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Mode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360920" y="541324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letters, get text, build a sentence — powered by OCR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68096" y="173736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6" name="Shape 4"/>
          <p:cNvSpPr/>
          <p:nvPr/>
        </p:nvSpPr>
        <p:spPr>
          <a:xfrm>
            <a:off x="2025396" y="1993392"/>
            <a:ext cx="822960" cy="8229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2381" y="2100377"/>
            <a:ext cx="608990" cy="60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2926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73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25696" y="173736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11" name="Shape 8"/>
          <p:cNvSpPr/>
          <p:nvPr/>
        </p:nvSpPr>
        <p:spPr>
          <a:xfrm>
            <a:off x="5682996" y="1993392"/>
            <a:ext cx="822960" cy="82296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981" y="2100377"/>
            <a:ext cx="608990" cy="6089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7136" y="2926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17136" y="3273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 &amp; drawing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83296" y="173736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16" name="Shape 12"/>
          <p:cNvSpPr/>
          <p:nvPr/>
        </p:nvSpPr>
        <p:spPr>
          <a:xfrm>
            <a:off x="9340596" y="1993392"/>
            <a:ext cx="822960" cy="8229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581" y="2100377"/>
            <a:ext cx="608990" cy="6089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74736" y="2926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74736" y="3273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 detection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68096" y="402336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21" name="Shape 16"/>
          <p:cNvSpPr/>
          <p:nvPr/>
        </p:nvSpPr>
        <p:spPr>
          <a:xfrm>
            <a:off x="2025396" y="4279392"/>
            <a:ext cx="822960" cy="82296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381" y="4386377"/>
            <a:ext cx="608990" cy="6089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9536" y="5212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59536" y="5559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25696" y="402336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26" name="Shape 20"/>
          <p:cNvSpPr/>
          <p:nvPr/>
        </p:nvSpPr>
        <p:spPr>
          <a:xfrm>
            <a:off x="5682996" y="4279392"/>
            <a:ext cx="822960" cy="8229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981" y="4386377"/>
            <a:ext cx="608990" cy="60899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17136" y="5212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17136" y="5559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handling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83296" y="402336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31" name="Shape 24"/>
          <p:cNvSpPr/>
          <p:nvPr/>
        </p:nvSpPr>
        <p:spPr>
          <a:xfrm>
            <a:off x="9340596" y="4279392"/>
            <a:ext cx="822960" cy="82296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7581" y="4386377"/>
            <a:ext cx="608990" cy="60899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74736" y="5212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174736" y="5559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Live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2542032"/>
            <a:ext cx="731520" cy="73152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398" y="2637130"/>
            <a:ext cx="541325" cy="5413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48840" y="2121408"/>
            <a:ext cx="365760" cy="36576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9" name="Text 6"/>
          <p:cNvSpPr/>
          <p:nvPr/>
        </p:nvSpPr>
        <p:spPr>
          <a:xfrm>
            <a:off x="21488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9136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captures live video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322" y="3154680"/>
            <a:ext cx="329184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75788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14" name="Shape 10"/>
          <p:cNvSpPr/>
          <p:nvPr/>
        </p:nvSpPr>
        <p:spPr>
          <a:xfrm>
            <a:off x="3493008" y="2542032"/>
            <a:ext cx="731520" cy="73152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106" y="2637130"/>
            <a:ext cx="541325" cy="54132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84548" y="2121408"/>
            <a:ext cx="365760" cy="36576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7" name="Text 12"/>
          <p:cNvSpPr/>
          <p:nvPr/>
        </p:nvSpPr>
        <p:spPr>
          <a:xfrm>
            <a:off x="438454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48940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Detection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67228" y="39136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extracts 21 hand points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3154680"/>
            <a:ext cx="329184" cy="32918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111496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22" name="Shape 16"/>
          <p:cNvSpPr/>
          <p:nvPr/>
        </p:nvSpPr>
        <p:spPr>
          <a:xfrm>
            <a:off x="5728716" y="2542032"/>
            <a:ext cx="731520" cy="73152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3814" y="2637130"/>
            <a:ext cx="541325" cy="54132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620256" y="2121408"/>
            <a:ext cx="365760" cy="36576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25" name="Text 18"/>
          <p:cNvSpPr/>
          <p:nvPr/>
        </p:nvSpPr>
        <p:spPr>
          <a:xfrm>
            <a:off x="6620256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184648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202936" y="39136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Wrist-relative + scale-invariant features</a:t>
            </a:r>
            <a:endParaRPr lang="en-US" sz="10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738" y="3154680"/>
            <a:ext cx="329184" cy="32918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347204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30" name="Shape 22"/>
          <p:cNvSpPr/>
          <p:nvPr/>
        </p:nvSpPr>
        <p:spPr>
          <a:xfrm>
            <a:off x="7964424" y="2542032"/>
            <a:ext cx="731520" cy="73152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22" y="2637130"/>
            <a:ext cx="541325" cy="54132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8855964" y="2121408"/>
            <a:ext cx="365760" cy="36576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33" name="Text 24"/>
          <p:cNvSpPr/>
          <p:nvPr/>
        </p:nvSpPr>
        <p:spPr>
          <a:xfrm>
            <a:off x="8855964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7420356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7438644" y="39136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predicts the gesture</a:t>
            </a:r>
            <a:endParaRPr lang="en-US" sz="10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3446" y="3154680"/>
            <a:ext cx="329184" cy="329184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9582912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1B2145"/>
          </a:solidFill>
          <a:ln/>
        </p:spPr>
      </p:sp>
      <p:sp>
        <p:nvSpPr>
          <p:cNvPr id="38" name="Shape 28"/>
          <p:cNvSpPr/>
          <p:nvPr/>
        </p:nvSpPr>
        <p:spPr>
          <a:xfrm>
            <a:off x="10200132" y="2542032"/>
            <a:ext cx="731520" cy="73152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5230" y="2637130"/>
            <a:ext cx="541325" cy="541325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11091672" y="2121408"/>
            <a:ext cx="365760" cy="36576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41" name="Text 30"/>
          <p:cNvSpPr/>
          <p:nvPr/>
        </p:nvSpPr>
        <p:spPr>
          <a:xfrm>
            <a:off x="11091672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9656064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Output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9674352" y="39136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label shown on screen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— Gesture Mode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6126480" cy="4709160"/>
          </a:xfrm>
          <a:prstGeom prst="roundRect">
            <a:avLst>
              <a:gd name="adj" fmla="val 2330"/>
            </a:avLst>
          </a:prstGeom>
          <a:solidFill>
            <a:srgbClr val="1B2145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856232"/>
            <a:ext cx="91440" cy="9144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0992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feed with a real-time bounding box around the detected hand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697480"/>
            <a:ext cx="91440" cy="9144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55117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21-point hand landmark tracking via MediaPipe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538728"/>
            <a:ext cx="91440" cy="9144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92424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Wrist-relative + scale-normalized features — works at any distance from the camera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379976"/>
            <a:ext cx="91440" cy="9144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33672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Majority-vote smoothing across the last 8 frames for a stable label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5221224"/>
            <a:ext cx="91440" cy="9144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507492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filters out low-confidence guesses ("Uncertain...")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86600" y="173736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05070F"/>
          </a:solidFill>
          <a:ln w="12700">
            <a:solidFill>
              <a:srgbClr val="171C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651760"/>
            <a:ext cx="3108960" cy="2651760"/>
          </a:xfrm>
          <a:prstGeom prst="roundRect">
            <a:avLst>
              <a:gd name="adj" fmla="val 2759"/>
            </a:avLst>
          </a:prstGeom>
          <a:ln w="31750">
            <a:solidFill>
              <a:srgbClr val="00C8F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3246120"/>
            <a:ext cx="1188720" cy="11887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72400" y="196596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0" y="1993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: Palm Open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— Write Mode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6126480" cy="4709160"/>
          </a:xfrm>
          <a:prstGeom prst="roundRect">
            <a:avLst>
              <a:gd name="adj" fmla="val 2330"/>
            </a:avLst>
          </a:prstGeom>
          <a:solidFill>
            <a:srgbClr val="1B2145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856232"/>
            <a:ext cx="91440" cy="91440"/>
          </a:xfrm>
          <a:prstGeom prst="ellipse">
            <a:avLst/>
          </a:prstGeom>
          <a:solidFill>
            <a:srgbClr val="AA5A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0992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letters or words freehand with the mouse on a white canvas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697480"/>
            <a:ext cx="91440" cy="91440"/>
          </a:xfrm>
          <a:prstGeom prst="ellipse">
            <a:avLst/>
          </a:prstGeom>
          <a:solidFill>
            <a:srgbClr val="AA5AF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55117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4 pen colors plus an eraser, with full undo support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538728"/>
            <a:ext cx="91440" cy="91440"/>
          </a:xfrm>
          <a:prstGeom prst="ellipse">
            <a:avLst/>
          </a:prstGeom>
          <a:solidFill>
            <a:srgbClr val="AA5AF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92424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recognizes each word the moment you press "Add Word"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379976"/>
            <a:ext cx="91440" cy="91440"/>
          </a:xfrm>
          <a:prstGeom prst="ellipse">
            <a:avLst/>
          </a:prstGeom>
          <a:solidFill>
            <a:srgbClr val="AA5A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33672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words build up into a running sentence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5221224"/>
            <a:ext cx="91440" cy="91440"/>
          </a:xfrm>
          <a:prstGeom prst="ellipse">
            <a:avLst/>
          </a:prstGeom>
          <a:solidFill>
            <a:srgbClr val="AA5A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507492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works from on-screen buttons or keyboard shortcuts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86600" y="173736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171C3D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880360"/>
            <a:ext cx="1280160" cy="12801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452360" y="507492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46720" y="5074920"/>
            <a:ext cx="457200" cy="457200"/>
          </a:xfrm>
          <a:prstGeom prst="ellipse">
            <a:avLst/>
          </a:prstGeom>
          <a:solidFill>
            <a:srgbClr val="2A9D3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41080" y="5074920"/>
            <a:ext cx="457200" cy="457200"/>
          </a:xfrm>
          <a:prstGeom prst="ellipse">
            <a:avLst/>
          </a:prstGeom>
          <a:solidFill>
            <a:srgbClr val="2166D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35440" y="5074920"/>
            <a:ext cx="457200" cy="457200"/>
          </a:xfrm>
          <a:prstGeom prst="ellipse">
            <a:avLst/>
          </a:prstGeom>
          <a:solidFill>
            <a:srgbClr val="F4C512"/>
          </a:solidFill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Gesture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4-step pipeline, run once per new gesture 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B2145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2441448"/>
            <a:ext cx="822960" cy="8229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025" y="2548433"/>
            <a:ext cx="608990" cy="6089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886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labeled landmark samples per gesture from webcam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580" y="335584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53384" y="214884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B2145"/>
          </a:solidFill>
          <a:ln/>
        </p:spPr>
      </p:sp>
      <p:sp>
        <p:nvSpPr>
          <p:cNvPr id="13" name="Shape 9"/>
          <p:cNvSpPr/>
          <p:nvPr/>
        </p:nvSpPr>
        <p:spPr>
          <a:xfrm>
            <a:off x="4276344" y="2441448"/>
            <a:ext cx="822960" cy="8229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329" y="2548433"/>
            <a:ext cx="608990" cy="6089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44824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590544" y="3886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malformed or non-numeric rows before training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3355848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66688" y="214884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B2145"/>
          </a:solidFill>
          <a:ln/>
        </p:spPr>
      </p:sp>
      <p:sp>
        <p:nvSpPr>
          <p:cNvPr id="19" name="Shape 13"/>
          <p:cNvSpPr/>
          <p:nvPr/>
        </p:nvSpPr>
        <p:spPr>
          <a:xfrm>
            <a:off x="7089648" y="2441448"/>
            <a:ext cx="822960" cy="8229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633" y="2548433"/>
            <a:ext cx="608990" cy="6089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58128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403848" y="3886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learns from normalized landmark features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3188" y="3355848"/>
            <a:ext cx="329184" cy="32918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079992" y="214884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B2145"/>
          </a:solidFill>
          <a:ln/>
        </p:spPr>
      </p:sp>
      <p:sp>
        <p:nvSpPr>
          <p:cNvPr id="25" name="Shape 17"/>
          <p:cNvSpPr/>
          <p:nvPr/>
        </p:nvSpPr>
        <p:spPr>
          <a:xfrm>
            <a:off x="9902952" y="2441448"/>
            <a:ext cx="822960" cy="82296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9937" y="2548433"/>
            <a:ext cx="608990" cy="60899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171432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Save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9217152" y="3886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cross-validation, then save model &amp; encoder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Highlights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fixes that make the app work reliably across machines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3796" y="21488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145"/>
          </a:solidFill>
          <a:ln/>
        </p:spPr>
      </p:sp>
      <p:sp>
        <p:nvSpPr>
          <p:cNvPr id="7" name="Shape 5"/>
          <p:cNvSpPr/>
          <p:nvPr/>
        </p:nvSpPr>
        <p:spPr>
          <a:xfrm>
            <a:off x="928116" y="2468880"/>
            <a:ext cx="777240" cy="77724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157" y="2569921"/>
            <a:ext cx="575158" cy="5751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88236" y="2350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Paths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88236" y="277063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File-location-based paths — works whether run from root or src/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23076" y="21488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145"/>
          </a:solidFill>
          <a:ln/>
        </p:spPr>
      </p:sp>
      <p:sp>
        <p:nvSpPr>
          <p:cNvPr id="12" name="Shape 9"/>
          <p:cNvSpPr/>
          <p:nvPr/>
        </p:nvSpPr>
        <p:spPr>
          <a:xfrm>
            <a:off x="6597396" y="2468880"/>
            <a:ext cx="777240" cy="77724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437" y="2569921"/>
            <a:ext cx="575158" cy="5751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57516" y="2350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OCR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57516" y="277063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Tesseract automatically instead of a hardcoded path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53796" y="393192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145"/>
          </a:solidFill>
          <a:ln/>
        </p:spPr>
      </p:sp>
      <p:sp>
        <p:nvSpPr>
          <p:cNvPr id="17" name="Shape 13"/>
          <p:cNvSpPr/>
          <p:nvPr/>
        </p:nvSpPr>
        <p:spPr>
          <a:xfrm>
            <a:off x="928116" y="4251960"/>
            <a:ext cx="777240" cy="77724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57" y="4353001"/>
            <a:ext cx="575158" cy="5751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88236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 Features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88236" y="455371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stays accurate at any distance from the camera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323076" y="393192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145"/>
          </a:solidFill>
          <a:ln/>
        </p:spPr>
      </p:sp>
      <p:sp>
        <p:nvSpPr>
          <p:cNvPr id="22" name="Shape 17"/>
          <p:cNvSpPr/>
          <p:nvPr/>
        </p:nvSpPr>
        <p:spPr>
          <a:xfrm>
            <a:off x="6597396" y="4251960"/>
            <a:ext cx="777240" cy="777240"/>
          </a:xfrm>
          <a:prstGeom prst="ellipse">
            <a:avLst/>
          </a:prstGeom>
          <a:solidFill>
            <a:srgbClr val="AA5A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437" y="4353001"/>
            <a:ext cx="575158" cy="57515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57516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Camera Access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557516" y="455371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DirectShow backend with warm-up retries on Windows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3796" y="21488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145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" y="2468880"/>
            <a:ext cx="777240" cy="77724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157" y="256992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88236" y="2350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Sign Language Gestures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888236" y="277063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vocabulary toward ISL / ASL coverage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23076" y="21488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145"/>
          </a:solidFill>
          <a:ln/>
        </p:spPr>
      </p:sp>
      <p:sp>
        <p:nvSpPr>
          <p:cNvPr id="11" name="Shape 8"/>
          <p:cNvSpPr/>
          <p:nvPr/>
        </p:nvSpPr>
        <p:spPr>
          <a:xfrm>
            <a:off x="6597396" y="2468880"/>
            <a:ext cx="777240" cy="77724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437" y="256992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57516" y="2350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Output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557516" y="277063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recognized gestures and sentences aloud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53796" y="393192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145"/>
          </a:solidFill>
          <a:ln/>
        </p:spPr>
      </p:sp>
      <p:sp>
        <p:nvSpPr>
          <p:cNvPr id="16" name="Shape 12"/>
          <p:cNvSpPr/>
          <p:nvPr/>
        </p:nvSpPr>
        <p:spPr>
          <a:xfrm>
            <a:off x="928116" y="4251960"/>
            <a:ext cx="777240" cy="77724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57" y="4353001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88236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888236" y="455371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gesture and write recognition to phones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23076" y="393192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145"/>
          </a:solidFill>
          <a:ln/>
        </p:spPr>
      </p:sp>
      <p:sp>
        <p:nvSpPr>
          <p:cNvPr id="21" name="Shape 16"/>
          <p:cNvSpPr/>
          <p:nvPr/>
        </p:nvSpPr>
        <p:spPr>
          <a:xfrm>
            <a:off x="6597396" y="4251960"/>
            <a:ext cx="777240" cy="777240"/>
          </a:xfrm>
          <a:prstGeom prst="ellipse">
            <a:avLst/>
          </a:prstGeom>
          <a:solidFill>
            <a:srgbClr val="00C8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437" y="4353001"/>
            <a:ext cx="575158" cy="5751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57516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Upgrade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557516" y="455371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Random Forest to a neural model for scale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00C8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389120"/>
            <a:ext cx="4572000" cy="4572000"/>
          </a:xfrm>
          <a:prstGeom prst="ellipse">
            <a:avLst/>
          </a:prstGeom>
          <a:solidFill>
            <a:srgbClr val="AA5AFF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AI — See It, Understand It, Recognize It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420624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github.com/bhavyamah23/SignSpeakAI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Maheshwari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Mody University of Science and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2026-09-06T19:04:52Z</dcterms:created>
  <dcterms:modified xsi:type="dcterms:W3CDTF">2026-09-06T19:04:52Z</dcterms:modified>
</cp:coreProperties>
</file>